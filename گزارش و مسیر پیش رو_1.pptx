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3"/>
  </p:notesMasterIdLst>
  <p:sldIdLst>
    <p:sldId id="277" r:id="rId2"/>
    <p:sldId id="283" r:id="rId28"/>
    <p:sldId id="284" r:id="rId29"/>
    <p:sldId id="285" r:id="rId30"/>
    <p:sldId id="286" r:id="rId31"/>
    <p:sldId id="257" r:id="rId5"/>
    <p:sldId id="28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1" userDrawn="1">
          <p15:clr>
            <a:srgbClr val="A4A3A4"/>
          </p15:clr>
        </p15:guide>
        <p15:guide id="2" pos="7299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orient="horz" pos="380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21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C3A"/>
    <a:srgbClr val="D6001C"/>
    <a:srgbClr val="28253A"/>
    <a:srgbClr val="020A3D"/>
    <a:srgbClr val="000F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85"/>
    <p:restoredTop sz="94694"/>
  </p:normalViewPr>
  <p:slideViewPr>
    <p:cSldViewPr snapToGrid="0" showGuides="1">
      <p:cViewPr varScale="1">
        <p:scale>
          <a:sx n="112" d="100"/>
          <a:sy n="112" d="100"/>
        </p:scale>
        <p:origin x="216" y="384"/>
      </p:cViewPr>
      <p:guideLst>
        <p:guide pos="381"/>
        <p:guide pos="7299"/>
        <p:guide pos="3840"/>
        <p:guide orient="horz" pos="380"/>
        <p:guide orient="horz" pos="3929"/>
        <p:guide orient="horz" pos="21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.xml"/><Relationship Id="rId29" Type="http://schemas.openxmlformats.org/officeDocument/2006/relationships/slide" Target="slides/slide3.xml"/><Relationship Id="rId30" Type="http://schemas.openxmlformats.org/officeDocument/2006/relationships/slide" Target="slides/slide4.xml"/><Relationship Id="rId3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2F1E61-3EC5-3B45-BB2A-F2BB00C2748A}" type="datetimeFigureOut">
              <a:rPr lang="en-IR" smtClean="0"/>
              <a:t>1/18/2025 R</a:t>
            </a:fld>
            <a:endParaRPr lang="en-I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33027-8B60-B34C-9BDA-B9F1428615EA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355101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5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3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7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1/18/2025 R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248019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1/18/2025 R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436259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1/18/2025 R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370389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1/18/2025 R</a:t>
            </a:fld>
            <a:endParaRPr lang="en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982290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1/18/2025 R</a:t>
            </a:fld>
            <a:endParaRPr lang="en-I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490712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1/18/2025 R</a:t>
            </a:fld>
            <a:endParaRPr lang="en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05536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1/18/2025 R</a:t>
            </a:fld>
            <a:endParaRPr lang="en-I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420386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1/18/2025 R</a:t>
            </a:fld>
            <a:endParaRPr lang="en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711259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1/18/2025 R</a:t>
            </a:fld>
            <a:endParaRPr lang="en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90740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1/18/2025 R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804425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1/18/2025 R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1441853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17935-F767-D54C-8BD8-1213FC869680}" type="datetimeFigureOut">
              <a:rPr lang="en-IR" smtClean="0"/>
              <a:t>1/18/2025 R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69670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C2355F-3C5B-AAE7-805C-4EE255EFB76D}"/>
              </a:ext>
            </a:extLst>
          </p:cNvPr>
          <p:cNvSpPr txBox="1"/>
          <p:nvPr/>
        </p:nvSpPr>
        <p:spPr>
          <a:xfrm>
            <a:off x="3732780" y="1753040"/>
            <a:ext cx="79075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457200" rtl="1" eaLnBrk="1" latinLnBrk="0" hangingPunct="1"/>
            <a:r>
              <a:rPr lang="fa-IR" sz="48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مدیر در عصر</a:t>
            </a:r>
          </a:p>
          <a:p>
            <a:pPr marL="0" algn="r" defTabSz="457200" rtl="1" eaLnBrk="1" latinLnBrk="0" hangingPunct="1"/>
            <a:r>
              <a:rPr lang="fa-IR" sz="48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هوش مصنوعی</a:t>
            </a:r>
            <a:endParaRPr lang="en-IR" sz="4800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74B2B2-BB36-37C5-F929-69E2124A8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611" y="4686549"/>
            <a:ext cx="2413552" cy="598759"/>
          </a:xfrm>
          <a:prstGeom prst="rect">
            <a:avLst/>
          </a:prstGeom>
        </p:spPr>
      </p:pic>
      <p:sp>
        <p:nvSpPr>
          <p:cNvPr id="51" name="TextBox 51"/>
          <p:cNvSpPr txBox="1"/>
          <p:nvPr/>
        </p:nvSpPr>
        <p:spPr>
          <a:xfrm>
            <a:off x="2990436" y="5486400"/>
            <a:ext cx="85953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200"/>
              </a:spcAft>
              <a:buNone/>
            </a:pPr>
            <a:r>
              <a:rPr lang="fa-IR" sz="18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کارهای انجام‌شده، مسیر پیش رو و زمان‌بندی</a:t>
            </a:r>
          </a:p>
          <a:p>
            <a:pPr algn="r" rtl="1">
              <a:lnSpc>
                <a:spcPct val="110000"/>
              </a:lnSpc>
              <a:spcAft>
                <a:spcPts val="0"/>
              </a:spcAft>
              <a:buNone/>
            </a:pPr>
            <a:r>
              <a:rPr lang="fa-IR" sz="1500" b="0" dirty="0">
                <a:solidFill>
                  <a:srgbClr val="BDBBD0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مهر ۱۴۰۵</a:t>
            </a:r>
          </a:p>
        </p:txBody>
      </p:sp>
    </p:spTree>
    <p:extLst>
      <p:ext uri="{BB962C8B-B14F-4D97-AF65-F5344CB8AC3E}">
        <p14:creationId xmlns:p14="http://schemas.microsoft.com/office/powerpoint/2010/main" val="708936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کارهای انجام‌شده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64FF18-49C0-9BEE-1787-CD41B607DED6}"/>
              </a:ext>
            </a:extLst>
          </p:cNvPr>
          <p:cNvSpPr txBox="1"/>
          <p:nvPr/>
        </p:nvSpPr>
        <p:spPr>
          <a:xfrm>
            <a:off x="605235" y="6237288"/>
            <a:ext cx="34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201" name="Line 201"/>
          <p:cNvSpPr/>
          <p:nvPr/>
        </p:nvSpPr>
        <p:spPr>
          <a:xfrm>
            <a:off x="1630139" y="2448056"/>
            <a:ext cx="8930752" cy="18288"/>
          </a:xfrm>
          <a:prstGeom prst="rect">
            <a:avLst/>
          </a:prstGeom>
          <a:solidFill>
            <a:srgbClr val="4A4675"/>
          </a:solidFill>
          <a:ln>
            <a:noFill/>
          </a:ln>
        </p:spPr>
      </p:sp>
      <p:sp>
        <p:nvSpPr>
          <p:cNvPr id="202" name="Pill 202"/>
          <p:cNvSpPr/>
          <p:nvPr/>
        </p:nvSpPr>
        <p:spPr>
          <a:xfrm>
            <a:off x="9920811" y="1757200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4A4675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2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۲۸ شهریور</a:t>
            </a:r>
          </a:p>
        </p:txBody>
      </p:sp>
      <p:sp>
        <p:nvSpPr>
          <p:cNvPr id="203" name="Oval 203"/>
          <p:cNvSpPr/>
          <p:nvPr/>
        </p:nvSpPr>
        <p:spPr>
          <a:xfrm>
            <a:off x="10378011" y="2274320"/>
            <a:ext cx="365760" cy="365760"/>
          </a:xfrm>
          <a:prstGeom prst="ellipse">
            <a:avLst/>
          </a:prstGeom>
          <a:solidFill>
            <a:srgbClr val="D6001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3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۱</a:t>
            </a:r>
          </a:p>
        </p:txBody>
      </p:sp>
      <p:sp>
        <p:nvSpPr>
          <p:cNvPr id="204" name="Card 204"/>
          <p:cNvSpPr/>
          <p:nvPr/>
        </p:nvSpPr>
        <p:spPr>
          <a:xfrm>
            <a:off x="9535987" y="2822960"/>
            <a:ext cx="2049808" cy="2286000"/>
          </a:xfrm>
          <a:prstGeom prst="roundRect">
            <a:avLst>
              <a:gd name="adj" fmla="val 6000"/>
            </a:avLst>
          </a:prstGeom>
          <a:solidFill>
            <a:srgbClr val="2B2850"/>
          </a:solidFill>
          <a:ln>
            <a:noFill/>
          </a:ln>
        </p:spPr>
        <p:txBody>
          <a:bodyPr wrap="square" lIns="137160" tIns="228600" rIns="137160" bIns="137160" anchor="t" rtlCol="0">
            <a:noAutofit/>
          </a:bodyPr>
          <a:lstStyle/>
          <a:p>
            <a:pPr algn="r" rtl="1">
              <a:lnSpc>
                <a:spcPct val="115000"/>
              </a:lnSpc>
              <a:spcAft>
                <a:spcPts val="900"/>
              </a:spcAft>
              <a:buNone/>
            </a:pPr>
            <a:r>
              <a:rPr lang="fa-IR" sz="15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جلسه آغازین لایه اول</a:t>
            </a:r>
          </a:p>
          <a:p>
            <a:pPr algn="r" rtl="1">
              <a:lnSpc>
                <a:spcPct val="120000"/>
              </a:lnSpc>
              <a:spcAft>
                <a:spcPts val="0"/>
              </a:spcAft>
              <a:buNone/>
            </a:pPr>
            <a:r>
              <a:rPr lang="fa-IR" sz="1300" b="0" dirty="0">
                <a:solidFill>
                  <a:srgbClr val="E6E5E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۲۸ نفر از هیئت مدیره و مدیران ستادی</a:t>
            </a:r>
          </a:p>
        </p:txBody>
      </p:sp>
      <p:sp>
        <p:nvSpPr>
          <p:cNvPr id="205" name="Pill 205"/>
          <p:cNvSpPr/>
          <p:nvPr/>
        </p:nvSpPr>
        <p:spPr>
          <a:xfrm>
            <a:off x="7688123" y="1757200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4A4675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2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۱۱ مهر</a:t>
            </a:r>
          </a:p>
        </p:txBody>
      </p:sp>
      <p:sp>
        <p:nvSpPr>
          <p:cNvPr id="206" name="Oval 206"/>
          <p:cNvSpPr/>
          <p:nvPr/>
        </p:nvSpPr>
        <p:spPr>
          <a:xfrm>
            <a:off x="8145323" y="2274320"/>
            <a:ext cx="365760" cy="365760"/>
          </a:xfrm>
          <a:prstGeom prst="ellipse">
            <a:avLst/>
          </a:prstGeom>
          <a:solidFill>
            <a:srgbClr val="D6001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3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۲</a:t>
            </a:r>
          </a:p>
        </p:txBody>
      </p:sp>
      <p:sp>
        <p:nvSpPr>
          <p:cNvPr id="207" name="Card 207"/>
          <p:cNvSpPr/>
          <p:nvPr/>
        </p:nvSpPr>
        <p:spPr>
          <a:xfrm>
            <a:off x="7303299" y="2822960"/>
            <a:ext cx="2049808" cy="2286000"/>
          </a:xfrm>
          <a:prstGeom prst="roundRect">
            <a:avLst>
              <a:gd name="adj" fmla="val 6000"/>
            </a:avLst>
          </a:prstGeom>
          <a:solidFill>
            <a:srgbClr val="2B2850"/>
          </a:solidFill>
          <a:ln>
            <a:noFill/>
          </a:ln>
        </p:spPr>
        <p:txBody>
          <a:bodyPr wrap="square" lIns="137160" tIns="228600" rIns="137160" bIns="137160" anchor="t" rtlCol="0">
            <a:noAutofit/>
          </a:bodyPr>
          <a:lstStyle/>
          <a:p>
            <a:pPr algn="r" rtl="1">
              <a:lnSpc>
                <a:spcPct val="115000"/>
              </a:lnSpc>
              <a:spcAft>
                <a:spcPts val="900"/>
              </a:spcAft>
              <a:buNone/>
            </a:pPr>
            <a:r>
              <a:rPr lang="fa-IR" sz="15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رویداد مدیر در عصر هوش مصنوعی</a:t>
            </a:r>
          </a:p>
          <a:p>
            <a:pPr algn="r" rtl="1">
              <a:lnSpc>
                <a:spcPct val="120000"/>
              </a:lnSpc>
              <a:spcAft>
                <a:spcPts val="0"/>
              </a:spcAft>
              <a:buNone/>
            </a:pPr>
            <a:r>
              <a:rPr lang="fa-IR" sz="1300" b="0" dirty="0">
                <a:solidFill>
                  <a:srgbClr val="E6E5E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مدیران عملیاتی و مدیران شرکت‌ها</a:t>
            </a:r>
          </a:p>
        </p:txBody>
      </p:sp>
      <p:sp>
        <p:nvSpPr>
          <p:cNvPr id="208" name="Pill 208"/>
          <p:cNvSpPr/>
          <p:nvPr/>
        </p:nvSpPr>
        <p:spPr>
          <a:xfrm>
            <a:off x="5455435" y="1757200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4A4675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2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مهر ۱۴۰۵</a:t>
            </a:r>
          </a:p>
        </p:txBody>
      </p:sp>
      <p:sp>
        <p:nvSpPr>
          <p:cNvPr id="209" name="Oval 209"/>
          <p:cNvSpPr/>
          <p:nvPr/>
        </p:nvSpPr>
        <p:spPr>
          <a:xfrm>
            <a:off x="5912635" y="2274320"/>
            <a:ext cx="365760" cy="365760"/>
          </a:xfrm>
          <a:prstGeom prst="ellipse">
            <a:avLst/>
          </a:prstGeom>
          <a:solidFill>
            <a:srgbClr val="D6001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3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۳</a:t>
            </a:r>
          </a:p>
        </p:txBody>
      </p:sp>
      <p:sp>
        <p:nvSpPr>
          <p:cNvPr id="210" name="Card 210"/>
          <p:cNvSpPr/>
          <p:nvPr/>
        </p:nvSpPr>
        <p:spPr>
          <a:xfrm>
            <a:off x="5070611" y="2822960"/>
            <a:ext cx="2049808" cy="2286000"/>
          </a:xfrm>
          <a:prstGeom prst="roundRect">
            <a:avLst>
              <a:gd name="adj" fmla="val 6000"/>
            </a:avLst>
          </a:prstGeom>
          <a:solidFill>
            <a:srgbClr val="2B2850"/>
          </a:solidFill>
          <a:ln>
            <a:noFill/>
          </a:ln>
        </p:spPr>
        <p:txBody>
          <a:bodyPr wrap="square" lIns="137160" tIns="228600" rIns="137160" bIns="137160" anchor="t" rtlCol="0">
            <a:noAutofit/>
          </a:bodyPr>
          <a:lstStyle/>
          <a:p>
            <a:pPr algn="r" rtl="1">
              <a:lnSpc>
                <a:spcPct val="115000"/>
              </a:lnSpc>
              <a:spcAft>
                <a:spcPts val="900"/>
              </a:spcAft>
              <a:buNone/>
            </a:pPr>
            <a:r>
              <a:rPr lang="fa-IR" sz="15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نظرسنجی پس از رویداد</a:t>
            </a:r>
          </a:p>
          <a:p>
            <a:pPr algn="r" rtl="1">
              <a:lnSpc>
                <a:spcPct val="120000"/>
              </a:lnSpc>
              <a:spcAft>
                <a:spcPts val="0"/>
              </a:spcAft>
              <a:buNone/>
            </a:pPr>
            <a:r>
              <a:rPr lang="fa-IR" sz="1300" b="0" dirty="0">
                <a:solidFill>
                  <a:srgbClr val="E6E5E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۵۰ پاسخ؛ خواسته اصلی مدیران: آموزش عملی و تمرین‌محور</a:t>
            </a:r>
          </a:p>
        </p:txBody>
      </p:sp>
      <p:sp>
        <p:nvSpPr>
          <p:cNvPr id="211" name="Pill 211"/>
          <p:cNvSpPr/>
          <p:nvPr/>
        </p:nvSpPr>
        <p:spPr>
          <a:xfrm>
            <a:off x="3222747" y="1757200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4A4675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2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مهر ۱۴۰۵</a:t>
            </a:r>
          </a:p>
        </p:txBody>
      </p:sp>
      <p:sp>
        <p:nvSpPr>
          <p:cNvPr id="212" name="Oval 212"/>
          <p:cNvSpPr/>
          <p:nvPr/>
        </p:nvSpPr>
        <p:spPr>
          <a:xfrm>
            <a:off x="3679947" y="2274320"/>
            <a:ext cx="365760" cy="365760"/>
          </a:xfrm>
          <a:prstGeom prst="ellipse">
            <a:avLst/>
          </a:prstGeom>
          <a:solidFill>
            <a:srgbClr val="D6001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3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۴</a:t>
            </a:r>
          </a:p>
        </p:txBody>
      </p:sp>
      <p:sp>
        <p:nvSpPr>
          <p:cNvPr id="213" name="Card 213"/>
          <p:cNvSpPr/>
          <p:nvPr/>
        </p:nvSpPr>
        <p:spPr>
          <a:xfrm>
            <a:off x="2837923" y="2822960"/>
            <a:ext cx="2049808" cy="2286000"/>
          </a:xfrm>
          <a:prstGeom prst="roundRect">
            <a:avLst>
              <a:gd name="adj" fmla="val 6000"/>
            </a:avLst>
          </a:prstGeom>
          <a:solidFill>
            <a:srgbClr val="2B2850"/>
          </a:solidFill>
          <a:ln>
            <a:noFill/>
          </a:ln>
        </p:spPr>
        <p:txBody>
          <a:bodyPr wrap="square" lIns="137160" tIns="228600" rIns="137160" bIns="137160" anchor="t" rtlCol="0">
            <a:noAutofit/>
          </a:bodyPr>
          <a:lstStyle/>
          <a:p>
            <a:pPr algn="r" rtl="1">
              <a:lnSpc>
                <a:spcPct val="115000"/>
              </a:lnSpc>
              <a:spcAft>
                <a:spcPts val="900"/>
              </a:spcAft>
              <a:buNone/>
            </a:pPr>
            <a:r>
              <a:rPr lang="fa-IR" sz="15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سند مسیر جامع توانمندسازی</a:t>
            </a:r>
          </a:p>
          <a:p>
            <a:pPr algn="r" rtl="1">
              <a:lnSpc>
                <a:spcPct val="120000"/>
              </a:lnSpc>
              <a:spcAft>
                <a:spcPts val="0"/>
              </a:spcAft>
              <a:buNone/>
            </a:pPr>
            <a:r>
              <a:rPr lang="fa-IR" sz="1300" b="0" dirty="0">
                <a:solidFill>
                  <a:srgbClr val="E6E5E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طراحی مسیر آموزش و ارائه به هیئت مدیره گروه</a:t>
            </a:r>
          </a:p>
        </p:txBody>
      </p:sp>
      <p:sp>
        <p:nvSpPr>
          <p:cNvPr id="214" name="Pill 214"/>
          <p:cNvSpPr/>
          <p:nvPr/>
        </p:nvSpPr>
        <p:spPr>
          <a:xfrm>
            <a:off x="990059" y="1757200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4A4675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2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مهر ۱۴۰۵</a:t>
            </a:r>
          </a:p>
        </p:txBody>
      </p:sp>
      <p:sp>
        <p:nvSpPr>
          <p:cNvPr id="215" name="Oval 215"/>
          <p:cNvSpPr/>
          <p:nvPr/>
        </p:nvSpPr>
        <p:spPr>
          <a:xfrm>
            <a:off x="1447259" y="2274320"/>
            <a:ext cx="365760" cy="365760"/>
          </a:xfrm>
          <a:prstGeom prst="ellipse">
            <a:avLst/>
          </a:prstGeom>
          <a:solidFill>
            <a:srgbClr val="D6001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3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۵</a:t>
            </a:r>
          </a:p>
        </p:txBody>
      </p:sp>
      <p:sp>
        <p:nvSpPr>
          <p:cNvPr id="216" name="Card 216"/>
          <p:cNvSpPr/>
          <p:nvPr/>
        </p:nvSpPr>
        <p:spPr>
          <a:xfrm>
            <a:off x="605235" y="2822960"/>
            <a:ext cx="2049808" cy="2286000"/>
          </a:xfrm>
          <a:prstGeom prst="roundRect">
            <a:avLst>
              <a:gd name="adj" fmla="val 6000"/>
            </a:avLst>
          </a:prstGeom>
          <a:solidFill>
            <a:srgbClr val="2B2850"/>
          </a:solidFill>
          <a:ln>
            <a:noFill/>
          </a:ln>
        </p:spPr>
        <p:txBody>
          <a:bodyPr wrap="square" lIns="137160" tIns="228600" rIns="137160" bIns="137160" anchor="t" rtlCol="0">
            <a:noAutofit/>
          </a:bodyPr>
          <a:lstStyle/>
          <a:p>
            <a:pPr algn="r" rtl="1">
              <a:lnSpc>
                <a:spcPct val="115000"/>
              </a:lnSpc>
              <a:spcAft>
                <a:spcPts val="900"/>
              </a:spcAft>
              <a:buNone/>
            </a:pPr>
            <a:r>
              <a:rPr lang="fa-IR" sz="15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جمع‌بندی مسیر اجرا</a:t>
            </a:r>
          </a:p>
          <a:p>
            <a:pPr algn="r" rtl="1">
              <a:lnSpc>
                <a:spcPct val="120000"/>
              </a:lnSpc>
              <a:spcAft>
                <a:spcPts val="0"/>
              </a:spcAft>
              <a:buNone/>
            </a:pPr>
            <a:r>
              <a:rPr lang="fa-IR" sz="1300" b="0" dirty="0">
                <a:solidFill>
                  <a:srgbClr val="E6E5E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تعیین دوره‌ها، مدرسان، مسئولان و زمان‌بندی</a:t>
            </a:r>
          </a:p>
        </p:txBody>
      </p:sp>
    </p:spTree>
    <p:extLst>
      <p:ext uri="{BB962C8B-B14F-4D97-AF65-F5344CB8AC3E}">
        <p14:creationId xmlns:p14="http://schemas.microsoft.com/office/powerpoint/2010/main" val="446003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مسیر پیش رو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64FF18-49C0-9BEE-1787-CD41B607DED6}"/>
              </a:ext>
            </a:extLst>
          </p:cNvPr>
          <p:cNvSpPr txBox="1"/>
          <p:nvPr/>
        </p:nvSpPr>
        <p:spPr>
          <a:xfrm>
            <a:off x="605235" y="6237288"/>
            <a:ext cx="34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217" name="Card 217"/>
          <p:cNvSpPr/>
          <p:nvPr/>
        </p:nvSpPr>
        <p:spPr>
          <a:xfrm>
            <a:off x="8108489" y="1345720"/>
            <a:ext cx="3477307" cy="3108960"/>
          </a:xfrm>
          <a:prstGeom prst="roundRect">
            <a:avLst>
              <a:gd name="adj" fmla="val 6000"/>
            </a:avLst>
          </a:prstGeom>
          <a:solidFill>
            <a:srgbClr val="2B2850"/>
          </a:solidFill>
          <a:ln>
            <a:noFill/>
          </a:ln>
        </p:spPr>
      </p:sp>
      <p:sp>
        <p:nvSpPr>
          <p:cNvPr id="218" name="Oval 218"/>
          <p:cNvSpPr/>
          <p:nvPr/>
        </p:nvSpPr>
        <p:spPr>
          <a:xfrm>
            <a:off x="10991436" y="1528600"/>
            <a:ext cx="457200" cy="457200"/>
          </a:xfrm>
          <a:prstGeom prst="ellipse">
            <a:avLst/>
          </a:prstGeom>
          <a:solidFill>
            <a:srgbClr val="D6001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4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۱</a:t>
            </a:r>
          </a:p>
        </p:txBody>
      </p:sp>
      <p:sp>
        <p:nvSpPr>
          <p:cNvPr id="219" name="TextBox 219"/>
          <p:cNvSpPr txBox="1"/>
          <p:nvPr/>
        </p:nvSpPr>
        <p:spPr>
          <a:xfrm>
            <a:off x="8245649" y="1482880"/>
            <a:ext cx="2654347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  <a:buNone/>
            </a:pPr>
            <a:r>
              <a:rPr lang="fa-IR" sz="16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دوره الکترونیک مفاهیم پایه</a:t>
            </a:r>
          </a:p>
        </p:txBody>
      </p:sp>
      <p:sp>
        <p:nvSpPr>
          <p:cNvPr id="220" name="TextBox 220"/>
          <p:cNvSpPr txBox="1"/>
          <p:nvPr/>
        </p:nvSpPr>
        <p:spPr>
          <a:xfrm>
            <a:off x="8245649" y="2214400"/>
            <a:ext cx="3202987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300"/>
              </a:spcAft>
              <a:buNone/>
            </a:pPr>
            <a:r>
              <a:rPr lang="fa-IR" sz="1400" b="1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مدرس: </a:t>
            </a:r>
            <a:r>
              <a:rPr lang="fa-IR" sz="14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سهیل تهرانی‌پور</a:t>
            </a:r>
          </a:p>
          <a:p>
            <a:pPr algn="r" rtl="1">
              <a:lnSpc>
                <a:spcPct val="110000"/>
              </a:lnSpc>
              <a:spcAft>
                <a:spcPts val="300"/>
              </a:spcAft>
              <a:buNone/>
            </a:pPr>
            <a:r>
              <a:rPr lang="fa-IR" sz="1400" b="1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مقدمه: </a:t>
            </a:r>
            <a:r>
              <a:rPr lang="fa-IR" sz="14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فرید فولادی</a:t>
            </a:r>
          </a:p>
          <a:p>
            <a:pPr algn="r" rtl="1">
              <a:lnSpc>
                <a:spcPct val="110000"/>
              </a:lnSpc>
              <a:spcAft>
                <a:spcPts val="300"/>
              </a:spcAft>
              <a:buNone/>
            </a:pPr>
            <a:r>
              <a:rPr lang="fa-IR" sz="1400" b="1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مخاطب: </a:t>
            </a:r>
            <a:r>
              <a:rPr lang="fa-IR" sz="14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کل سازمان؛ اطلاع‌رسانی به لایه بدنه برای ثبت‌نام</a:t>
            </a:r>
          </a:p>
        </p:txBody>
      </p:sp>
      <p:sp>
        <p:nvSpPr>
          <p:cNvPr id="221" name="Card 221"/>
          <p:cNvSpPr/>
          <p:nvPr/>
        </p:nvSpPr>
        <p:spPr>
          <a:xfrm>
            <a:off x="8245649" y="3814600"/>
            <a:ext cx="3202987" cy="502920"/>
          </a:xfrm>
          <a:prstGeom prst="roundRect">
            <a:avLst>
              <a:gd name="adj" fmla="val 6000"/>
            </a:avLst>
          </a:prstGeom>
          <a:solidFill>
            <a:srgbClr val="4A4675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3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پیش‌نیاز همه دوره‌ها</a:t>
            </a:r>
          </a:p>
        </p:txBody>
      </p:sp>
      <p:sp>
        <p:nvSpPr>
          <p:cNvPr id="222" name="Arrow 222"/>
          <p:cNvSpPr/>
          <p:nvPr/>
        </p:nvSpPr>
        <p:spPr>
          <a:xfrm rot="16200000">
            <a:off x="7879889" y="2763040"/>
            <a:ext cx="182880" cy="274320"/>
          </a:xfrm>
          <a:prstGeom prst="triangle">
            <a:avLst/>
          </a:prstGeom>
          <a:solidFill>
            <a:srgbClr val="D6001C"/>
          </a:solidFill>
          <a:ln>
            <a:noFill/>
          </a:ln>
        </p:spPr>
      </p:sp>
      <p:sp>
        <p:nvSpPr>
          <p:cNvPr id="223" name="Card 223"/>
          <p:cNvSpPr/>
          <p:nvPr/>
        </p:nvSpPr>
        <p:spPr>
          <a:xfrm>
            <a:off x="4356862" y="1345720"/>
            <a:ext cx="3477307" cy="3108960"/>
          </a:xfrm>
          <a:prstGeom prst="roundRect">
            <a:avLst>
              <a:gd name="adj" fmla="val 6000"/>
            </a:avLst>
          </a:prstGeom>
          <a:solidFill>
            <a:srgbClr val="2B2850"/>
          </a:solidFill>
          <a:ln>
            <a:noFill/>
          </a:ln>
        </p:spPr>
      </p:sp>
      <p:sp>
        <p:nvSpPr>
          <p:cNvPr id="224" name="Oval 224"/>
          <p:cNvSpPr/>
          <p:nvPr/>
        </p:nvSpPr>
        <p:spPr>
          <a:xfrm>
            <a:off x="7239809" y="1528600"/>
            <a:ext cx="457200" cy="457200"/>
          </a:xfrm>
          <a:prstGeom prst="ellipse">
            <a:avLst/>
          </a:prstGeom>
          <a:solidFill>
            <a:srgbClr val="D6001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4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۲</a:t>
            </a:r>
          </a:p>
        </p:txBody>
      </p:sp>
      <p:sp>
        <p:nvSpPr>
          <p:cNvPr id="225" name="TextBox 225"/>
          <p:cNvSpPr txBox="1"/>
          <p:nvPr/>
        </p:nvSpPr>
        <p:spPr>
          <a:xfrm>
            <a:off x="4494022" y="1482880"/>
            <a:ext cx="2654347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  <a:buNone/>
            </a:pPr>
            <a:r>
              <a:rPr lang="fa-IR" sz="16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دوره هوشیار</a:t>
            </a:r>
          </a:p>
        </p:txBody>
      </p:sp>
      <p:sp>
        <p:nvSpPr>
          <p:cNvPr id="226" name="TextBox 226"/>
          <p:cNvSpPr txBox="1"/>
          <p:nvPr/>
        </p:nvSpPr>
        <p:spPr>
          <a:xfrm>
            <a:off x="4494022" y="2214400"/>
            <a:ext cx="3202987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300"/>
              </a:spcAft>
              <a:buNone/>
            </a:pPr>
            <a:r>
              <a:rPr lang="fa-IR" sz="1400" b="1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مخاطب: </a:t>
            </a:r>
            <a:r>
              <a:rPr lang="fa-IR" sz="14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۳۰ تا ۳۵ نفر از مدیران</a:t>
            </a:r>
          </a:p>
          <a:p>
            <a:pPr algn="r" rtl="1">
              <a:lnSpc>
                <a:spcPct val="110000"/>
              </a:lnSpc>
              <a:spcAft>
                <a:spcPts val="300"/>
              </a:spcAft>
              <a:buNone/>
            </a:pPr>
            <a:r>
              <a:rPr lang="fa-IR" sz="1400" b="1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شکل اجرا: </a:t>
            </a:r>
            <a:r>
              <a:rPr lang="fa-IR" sz="14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حضوری</a:t>
            </a:r>
          </a:p>
          <a:p>
            <a:pPr algn="r" rtl="1">
              <a:lnSpc>
                <a:spcPct val="110000"/>
              </a:lnSpc>
              <a:spcAft>
                <a:spcPts val="300"/>
              </a:spcAft>
              <a:buNone/>
            </a:pPr>
            <a:r>
              <a:rPr lang="fa-IR" sz="1400" b="1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پس از اجرا: </a:t>
            </a:r>
            <a:r>
              <a:rPr lang="fa-IR" sz="14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تبدیل به دوره الکترونیک برای همه لایه‌ها</a:t>
            </a:r>
          </a:p>
        </p:txBody>
      </p:sp>
      <p:sp>
        <p:nvSpPr>
          <p:cNvPr id="227" name="Card 227"/>
          <p:cNvSpPr/>
          <p:nvPr/>
        </p:nvSpPr>
        <p:spPr>
          <a:xfrm>
            <a:off x="4494022" y="3814600"/>
            <a:ext cx="3202987" cy="502920"/>
          </a:xfrm>
          <a:prstGeom prst="roundRect">
            <a:avLst>
              <a:gd name="adj" fmla="val 6000"/>
            </a:avLst>
          </a:prstGeom>
          <a:solidFill>
            <a:srgbClr val="4A4675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3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پس از دوره مفاهیم پایه</a:t>
            </a:r>
          </a:p>
        </p:txBody>
      </p:sp>
      <p:sp>
        <p:nvSpPr>
          <p:cNvPr id="228" name="Arrow 228"/>
          <p:cNvSpPr/>
          <p:nvPr/>
        </p:nvSpPr>
        <p:spPr>
          <a:xfrm rot="16200000">
            <a:off x="4128262" y="2763040"/>
            <a:ext cx="182880" cy="274320"/>
          </a:xfrm>
          <a:prstGeom prst="triangle">
            <a:avLst/>
          </a:prstGeom>
          <a:solidFill>
            <a:srgbClr val="D6001C"/>
          </a:solidFill>
          <a:ln>
            <a:noFill/>
          </a:ln>
        </p:spPr>
      </p:sp>
      <p:sp>
        <p:nvSpPr>
          <p:cNvPr id="229" name="Card 229"/>
          <p:cNvSpPr/>
          <p:nvPr/>
        </p:nvSpPr>
        <p:spPr>
          <a:xfrm>
            <a:off x="605235" y="1345720"/>
            <a:ext cx="3477307" cy="3108960"/>
          </a:xfrm>
          <a:prstGeom prst="roundRect">
            <a:avLst>
              <a:gd name="adj" fmla="val 6000"/>
            </a:avLst>
          </a:prstGeom>
          <a:solidFill>
            <a:srgbClr val="2B2850"/>
          </a:solidFill>
          <a:ln>
            <a:noFill/>
          </a:ln>
        </p:spPr>
      </p:sp>
      <p:sp>
        <p:nvSpPr>
          <p:cNvPr id="230" name="Oval 230"/>
          <p:cNvSpPr/>
          <p:nvPr/>
        </p:nvSpPr>
        <p:spPr>
          <a:xfrm>
            <a:off x="3488182" y="1528600"/>
            <a:ext cx="457200" cy="457200"/>
          </a:xfrm>
          <a:prstGeom prst="ellipse">
            <a:avLst/>
          </a:prstGeom>
          <a:solidFill>
            <a:srgbClr val="D6001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4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۳</a:t>
            </a:r>
          </a:p>
        </p:txBody>
      </p:sp>
      <p:sp>
        <p:nvSpPr>
          <p:cNvPr id="231" name="TextBox 231"/>
          <p:cNvSpPr txBox="1"/>
          <p:nvPr/>
        </p:nvSpPr>
        <p:spPr>
          <a:xfrm>
            <a:off x="742395" y="1482880"/>
            <a:ext cx="2654347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  <a:buNone/>
            </a:pPr>
            <a:r>
              <a:rPr lang="fa-IR" sz="16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دوره تحلیل داده و تصمیم‌گیری</a:t>
            </a:r>
          </a:p>
        </p:txBody>
      </p:sp>
      <p:sp>
        <p:nvSpPr>
          <p:cNvPr id="232" name="TextBox 232"/>
          <p:cNvSpPr txBox="1"/>
          <p:nvPr/>
        </p:nvSpPr>
        <p:spPr>
          <a:xfrm>
            <a:off x="742395" y="2214400"/>
            <a:ext cx="3202987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300"/>
              </a:spcAft>
              <a:buNone/>
            </a:pPr>
            <a:r>
              <a:rPr lang="fa-IR" sz="1400" b="1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طراح و مدرس: </a:t>
            </a:r>
            <a:r>
              <a:rPr lang="fa-IR" sz="14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یاسر غلامزاده</a:t>
            </a:r>
          </a:p>
          <a:p>
            <a:pPr algn="r" rtl="1">
              <a:lnSpc>
                <a:spcPct val="110000"/>
              </a:lnSpc>
              <a:spcAft>
                <a:spcPts val="300"/>
              </a:spcAft>
              <a:buNone/>
            </a:pPr>
            <a:r>
              <a:rPr lang="fa-IR" sz="1400" b="1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مخاطب: </a:t>
            </a:r>
            <a:r>
              <a:rPr lang="fa-IR" sz="14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۷۰ تا ۸۰ نفر از افراد تحلیلی سازمان</a:t>
            </a:r>
          </a:p>
          <a:p>
            <a:pPr algn="r" rtl="1">
              <a:lnSpc>
                <a:spcPct val="110000"/>
              </a:lnSpc>
              <a:spcAft>
                <a:spcPts val="300"/>
              </a:spcAft>
              <a:buNone/>
            </a:pPr>
            <a:r>
              <a:rPr lang="fa-IR" sz="1400" b="1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شرط حضور: </a:t>
            </a:r>
            <a:r>
              <a:rPr lang="fa-IR" sz="14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اولویت با کسانی که تمرین‌ها را تحویل داده‌اند</a:t>
            </a:r>
          </a:p>
        </p:txBody>
      </p:sp>
      <p:sp>
        <p:nvSpPr>
          <p:cNvPr id="233" name="Card 233"/>
          <p:cNvSpPr/>
          <p:nvPr/>
        </p:nvSpPr>
        <p:spPr>
          <a:xfrm>
            <a:off x="742395" y="3814600"/>
            <a:ext cx="3202987" cy="502920"/>
          </a:xfrm>
          <a:prstGeom prst="roundRect">
            <a:avLst>
              <a:gd name="adj" fmla="val 6000"/>
            </a:avLst>
          </a:prstGeom>
          <a:solidFill>
            <a:srgbClr val="4A4675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3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پس از دوره هوشیار</a:t>
            </a:r>
          </a:p>
        </p:txBody>
      </p:sp>
      <p:sp>
        <p:nvSpPr>
          <p:cNvPr id="234" name="Band 234"/>
          <p:cNvSpPr/>
          <p:nvPr/>
        </p:nvSpPr>
        <p:spPr>
          <a:xfrm>
            <a:off x="605235" y="4683280"/>
            <a:ext cx="10980561" cy="1371600"/>
          </a:xfrm>
          <a:prstGeom prst="roundRect">
            <a:avLst>
              <a:gd name="adj" fmla="val 6000"/>
            </a:avLst>
          </a:prstGeom>
          <a:solidFill>
            <a:srgbClr val="36335E"/>
          </a:solidFill>
          <a:ln w="19050">
            <a:solidFill>
              <a:srgbClr val="D6001C"/>
            </a:solidFill>
          </a:ln>
        </p:spPr>
      </p:sp>
      <p:sp>
        <p:nvSpPr>
          <p:cNvPr id="235" name="Oval 235"/>
          <p:cNvSpPr/>
          <p:nvPr/>
        </p:nvSpPr>
        <p:spPr>
          <a:xfrm>
            <a:off x="10991436" y="4866160"/>
            <a:ext cx="457200" cy="457200"/>
          </a:xfrm>
          <a:prstGeom prst="ellipse">
            <a:avLst/>
          </a:prstGeom>
          <a:solidFill>
            <a:srgbClr val="D6001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4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۴</a:t>
            </a:r>
          </a:p>
        </p:txBody>
      </p:sp>
      <p:sp>
        <p:nvSpPr>
          <p:cNvPr id="236" name="TextBox 236"/>
          <p:cNvSpPr txBox="1"/>
          <p:nvPr/>
        </p:nvSpPr>
        <p:spPr>
          <a:xfrm>
            <a:off x="6785196" y="482044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  <a:buNone/>
            </a:pPr>
            <a:r>
              <a:rPr lang="fa-IR" sz="16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سفیران هوش مصنوعی</a:t>
            </a:r>
          </a:p>
        </p:txBody>
      </p:sp>
      <p:sp>
        <p:nvSpPr>
          <p:cNvPr id="237" name="Pill 237"/>
          <p:cNvSpPr/>
          <p:nvPr/>
        </p:nvSpPr>
        <p:spPr>
          <a:xfrm>
            <a:off x="788115" y="486616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D6001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3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هم‌زمان با هر سه دوره</a:t>
            </a:r>
          </a:p>
        </p:txBody>
      </p:sp>
      <p:sp>
        <p:nvSpPr>
          <p:cNvPr id="238" name="TextBox 238"/>
          <p:cNvSpPr txBox="1"/>
          <p:nvPr/>
        </p:nvSpPr>
        <p:spPr>
          <a:xfrm>
            <a:off x="788115" y="5460520"/>
            <a:ext cx="10614801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  <a:buNone/>
            </a:pPr>
            <a:r>
              <a:rPr lang="fa-IR" sz="1400" b="1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انتخاب: </a:t>
            </a:r>
            <a:r>
              <a:rPr lang="fa-IR" sz="14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۲۰ نفر از واحدها از طریق منابع انسانی</a:t>
            </a:r>
            <a:r>
              <a:rPr lang="fa-IR" sz="1400" b="1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     کارگاه‌های تخصصی: </a:t>
            </a:r>
            <a:r>
              <a:rPr lang="fa-IR" sz="14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در طول اجرای دوره‌ها</a:t>
            </a:r>
            <a:r>
              <a:rPr lang="fa-IR" sz="1400" b="1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     مسیر آموزشی: </a:t>
            </a:r>
            <a:r>
              <a:rPr lang="fa-IR" sz="14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حسین زواره</a:t>
            </a:r>
          </a:p>
        </p:txBody>
      </p:sp>
    </p:spTree>
    <p:extLst>
      <p:ext uri="{BB962C8B-B14F-4D97-AF65-F5344CB8AC3E}">
        <p14:creationId xmlns:p14="http://schemas.microsoft.com/office/powerpoint/2010/main" val="446003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سفیران هوش مصنوعی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64FF18-49C0-9BEE-1787-CD41B607DED6}"/>
              </a:ext>
            </a:extLst>
          </p:cNvPr>
          <p:cNvSpPr txBox="1"/>
          <p:nvPr/>
        </p:nvSpPr>
        <p:spPr>
          <a:xfrm>
            <a:off x="605235" y="6237288"/>
            <a:ext cx="34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239" name="TextBox 239"/>
          <p:cNvSpPr txBox="1"/>
          <p:nvPr/>
        </p:nvSpPr>
        <p:spPr>
          <a:xfrm>
            <a:off x="6278395" y="1300000"/>
            <a:ext cx="53074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  <a:buNone/>
            </a:pPr>
            <a:r>
              <a:rPr lang="fa-IR" sz="1800" b="1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معیارهای انتخاب</a:t>
            </a:r>
          </a:p>
        </p:txBody>
      </p:sp>
      <p:sp>
        <p:nvSpPr>
          <p:cNvPr id="240" name="Card 240"/>
          <p:cNvSpPr/>
          <p:nvPr/>
        </p:nvSpPr>
        <p:spPr>
          <a:xfrm>
            <a:off x="6278395" y="1848640"/>
            <a:ext cx="5307400" cy="822960"/>
          </a:xfrm>
          <a:prstGeom prst="roundRect">
            <a:avLst>
              <a:gd name="adj" fmla="val 6000"/>
            </a:avLst>
          </a:prstGeom>
          <a:solidFill>
            <a:srgbClr val="36335E"/>
          </a:solidFill>
          <a:ln>
            <a:noFill/>
          </a:ln>
        </p:spPr>
        <p:txBody>
          <a:bodyPr wrap="square" lIns="182880" tIns="18288" rIns="777240" bIns="18288" anchor="ctr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  <a:buNone/>
            </a:pPr>
            <a:r>
              <a:rPr lang="fa-IR" sz="16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به هوش مصنوعی علاقه داشته باشد</a:t>
            </a:r>
          </a:p>
        </p:txBody>
      </p:sp>
      <p:sp>
        <p:nvSpPr>
          <p:cNvPr id="241" name="Oval 241"/>
          <p:cNvSpPr/>
          <p:nvPr/>
        </p:nvSpPr>
        <p:spPr>
          <a:xfrm>
            <a:off x="10945716" y="2031520"/>
            <a:ext cx="457200" cy="457200"/>
          </a:xfrm>
          <a:prstGeom prst="ellipse">
            <a:avLst/>
          </a:prstGeom>
          <a:solidFill>
            <a:srgbClr val="D6001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4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۱</a:t>
            </a:r>
          </a:p>
        </p:txBody>
      </p:sp>
      <p:sp>
        <p:nvSpPr>
          <p:cNvPr id="242" name="Card 242"/>
          <p:cNvSpPr/>
          <p:nvPr/>
        </p:nvSpPr>
        <p:spPr>
          <a:xfrm>
            <a:off x="6278395" y="2854480"/>
            <a:ext cx="5307400" cy="822960"/>
          </a:xfrm>
          <a:prstGeom prst="roundRect">
            <a:avLst>
              <a:gd name="adj" fmla="val 6000"/>
            </a:avLst>
          </a:prstGeom>
          <a:solidFill>
            <a:srgbClr val="36335E"/>
          </a:solidFill>
          <a:ln>
            <a:noFill/>
          </a:ln>
        </p:spPr>
        <p:txBody>
          <a:bodyPr wrap="square" lIns="182880" tIns="18288" rIns="777240" bIns="18288" anchor="ctr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  <a:buNone/>
            </a:pPr>
            <a:r>
              <a:rPr lang="fa-IR" sz="16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در واحد خود جایگاه سینیور داشته باشد و حرفش شنیده شود</a:t>
            </a:r>
          </a:p>
        </p:txBody>
      </p:sp>
      <p:sp>
        <p:nvSpPr>
          <p:cNvPr id="243" name="Oval 243"/>
          <p:cNvSpPr/>
          <p:nvPr/>
        </p:nvSpPr>
        <p:spPr>
          <a:xfrm>
            <a:off x="10945716" y="3037360"/>
            <a:ext cx="457200" cy="457200"/>
          </a:xfrm>
          <a:prstGeom prst="ellipse">
            <a:avLst/>
          </a:prstGeom>
          <a:solidFill>
            <a:srgbClr val="D6001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4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۲</a:t>
            </a:r>
          </a:p>
        </p:txBody>
      </p:sp>
      <p:sp>
        <p:nvSpPr>
          <p:cNvPr id="244" name="Card 244"/>
          <p:cNvSpPr/>
          <p:nvPr/>
        </p:nvSpPr>
        <p:spPr>
          <a:xfrm>
            <a:off x="6278395" y="3860320"/>
            <a:ext cx="5307400" cy="822960"/>
          </a:xfrm>
          <a:prstGeom prst="roundRect">
            <a:avLst>
              <a:gd name="adj" fmla="val 6000"/>
            </a:avLst>
          </a:prstGeom>
          <a:solidFill>
            <a:srgbClr val="36335E"/>
          </a:solidFill>
          <a:ln>
            <a:noFill/>
          </a:ln>
        </p:spPr>
        <p:txBody>
          <a:bodyPr wrap="square" lIns="182880" tIns="18288" rIns="777240" bIns="18288" anchor="ctr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  <a:buNone/>
            </a:pPr>
            <a:r>
              <a:rPr lang="fa-IR" sz="16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در شغل خود اجازه استفاده از هوش مصنوعی داشته باشد</a:t>
            </a:r>
          </a:p>
        </p:txBody>
      </p:sp>
      <p:sp>
        <p:nvSpPr>
          <p:cNvPr id="245" name="Oval 245"/>
          <p:cNvSpPr/>
          <p:nvPr/>
        </p:nvSpPr>
        <p:spPr>
          <a:xfrm>
            <a:off x="10945716" y="4043200"/>
            <a:ext cx="457200" cy="457200"/>
          </a:xfrm>
          <a:prstGeom prst="ellipse">
            <a:avLst/>
          </a:prstGeom>
          <a:solidFill>
            <a:srgbClr val="D6001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4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۳</a:t>
            </a:r>
          </a:p>
        </p:txBody>
      </p:sp>
      <p:sp>
        <p:nvSpPr>
          <p:cNvPr id="246" name="TextBox 246"/>
          <p:cNvSpPr txBox="1"/>
          <p:nvPr/>
        </p:nvSpPr>
        <p:spPr>
          <a:xfrm>
            <a:off x="605235" y="1300000"/>
            <a:ext cx="53074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  <a:buNone/>
            </a:pPr>
            <a:r>
              <a:rPr lang="fa-IR" sz="1800" b="1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برنامه سفیران</a:t>
            </a:r>
          </a:p>
        </p:txBody>
      </p:sp>
      <p:sp>
        <p:nvSpPr>
          <p:cNvPr id="247" name="Card 247"/>
          <p:cNvSpPr/>
          <p:nvPr/>
        </p:nvSpPr>
        <p:spPr>
          <a:xfrm>
            <a:off x="605235" y="1848640"/>
            <a:ext cx="5307400" cy="640080"/>
          </a:xfrm>
          <a:prstGeom prst="roundRect">
            <a:avLst>
              <a:gd name="adj" fmla="val 6000"/>
            </a:avLst>
          </a:prstGeom>
          <a:solidFill>
            <a:srgbClr val="2B2850"/>
          </a:solidFill>
          <a:ln>
            <a:noFill/>
          </a:ln>
        </p:spPr>
        <p:txBody>
          <a:bodyPr wrap="square" lIns="228600" tIns="18288" rIns="228600" bIns="18288" anchor="ctr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  <a:buNone/>
            </a:pPr>
            <a:r>
              <a:rPr lang="fa-IR" sz="1500" b="1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تعداد   </a:t>
            </a:r>
            <a:r>
              <a:rPr lang="fa-IR" sz="15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۲۰ نفر از واحدهای سازمان</a:t>
            </a:r>
          </a:p>
        </p:txBody>
      </p:sp>
      <p:sp>
        <p:nvSpPr>
          <p:cNvPr id="248" name="Card 248"/>
          <p:cNvSpPr/>
          <p:nvPr/>
        </p:nvSpPr>
        <p:spPr>
          <a:xfrm>
            <a:off x="605235" y="2603020"/>
            <a:ext cx="5307400" cy="640080"/>
          </a:xfrm>
          <a:prstGeom prst="roundRect">
            <a:avLst>
              <a:gd name="adj" fmla="val 6000"/>
            </a:avLst>
          </a:prstGeom>
          <a:solidFill>
            <a:srgbClr val="2B2850"/>
          </a:solidFill>
          <a:ln>
            <a:noFill/>
          </a:ln>
        </p:spPr>
        <p:txBody>
          <a:bodyPr wrap="square" lIns="228600" tIns="18288" rIns="228600" bIns="18288" anchor="ctr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  <a:buNone/>
            </a:pPr>
            <a:r>
              <a:rPr lang="fa-IR" sz="1500" b="1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معرفی افراد   </a:t>
            </a:r>
            <a:r>
              <a:rPr lang="fa-IR" sz="15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از طریق منابع انسانی</a:t>
            </a:r>
          </a:p>
        </p:txBody>
      </p:sp>
      <p:sp>
        <p:nvSpPr>
          <p:cNvPr id="249" name="Card 249"/>
          <p:cNvSpPr/>
          <p:nvPr/>
        </p:nvSpPr>
        <p:spPr>
          <a:xfrm>
            <a:off x="605235" y="3357400"/>
            <a:ext cx="5307400" cy="640080"/>
          </a:xfrm>
          <a:prstGeom prst="roundRect">
            <a:avLst>
              <a:gd name="adj" fmla="val 6000"/>
            </a:avLst>
          </a:prstGeom>
          <a:solidFill>
            <a:srgbClr val="2B2850"/>
          </a:solidFill>
          <a:ln>
            <a:noFill/>
          </a:ln>
        </p:spPr>
        <p:txBody>
          <a:bodyPr wrap="square" lIns="228600" tIns="18288" rIns="228600" bIns="18288" anchor="ctr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  <a:buNone/>
            </a:pPr>
            <a:r>
              <a:rPr lang="fa-IR" sz="1500" b="1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نوع آموزش   </a:t>
            </a:r>
            <a:r>
              <a:rPr lang="fa-IR" sz="15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کارگاه‌های تخصصی هم‌زمان با دوره‌ها</a:t>
            </a:r>
          </a:p>
        </p:txBody>
      </p:sp>
      <p:sp>
        <p:nvSpPr>
          <p:cNvPr id="250" name="Card 250"/>
          <p:cNvSpPr/>
          <p:nvPr/>
        </p:nvSpPr>
        <p:spPr>
          <a:xfrm>
            <a:off x="605235" y="4111780"/>
            <a:ext cx="5307400" cy="640080"/>
          </a:xfrm>
          <a:prstGeom prst="roundRect">
            <a:avLst>
              <a:gd name="adj" fmla="val 6000"/>
            </a:avLst>
          </a:prstGeom>
          <a:solidFill>
            <a:srgbClr val="2B2850"/>
          </a:solidFill>
          <a:ln>
            <a:noFill/>
          </a:ln>
        </p:spPr>
        <p:txBody>
          <a:bodyPr wrap="square" lIns="228600" tIns="18288" rIns="228600" bIns="18288" anchor="ctr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  <a:buNone/>
            </a:pPr>
            <a:r>
              <a:rPr lang="fa-IR" sz="1500" b="1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طراحی مسیر آموزشی   </a:t>
            </a:r>
            <a:r>
              <a:rPr lang="fa-IR" sz="15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حسین زواره</a:t>
            </a:r>
          </a:p>
        </p:txBody>
      </p:sp>
    </p:spTree>
    <p:extLst>
      <p:ext uri="{BB962C8B-B14F-4D97-AF65-F5344CB8AC3E}">
        <p14:creationId xmlns:p14="http://schemas.microsoft.com/office/powerpoint/2010/main" val="446003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زمان‌بندی اجرا تا پایان آبان ۱۴۰۵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64FF18-49C0-9BEE-1787-CD41B607DED6}"/>
              </a:ext>
            </a:extLst>
          </p:cNvPr>
          <p:cNvSpPr txBox="1"/>
          <p:nvPr/>
        </p:nvSpPr>
        <p:spPr>
          <a:xfrm>
            <a:off x="605235" y="6237288"/>
            <a:ext cx="34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251" name="Card 251"/>
          <p:cNvSpPr/>
          <p:nvPr/>
        </p:nvSpPr>
        <p:spPr>
          <a:xfrm>
            <a:off x="5914575" y="1300000"/>
            <a:ext cx="1716440" cy="411480"/>
          </a:xfrm>
          <a:prstGeom prst="roundRect">
            <a:avLst>
              <a:gd name="adj" fmla="val 6000"/>
            </a:avLst>
          </a:prstGeom>
          <a:solidFill>
            <a:srgbClr val="4A4675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3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۲۵ تا ۳۰ مهر</a:t>
            </a:r>
          </a:p>
        </p:txBody>
      </p:sp>
      <p:sp>
        <p:nvSpPr>
          <p:cNvPr id="252" name="Card 252"/>
          <p:cNvSpPr/>
          <p:nvPr/>
        </p:nvSpPr>
        <p:spPr>
          <a:xfrm>
            <a:off x="4152415" y="1300000"/>
            <a:ext cx="1716440" cy="411480"/>
          </a:xfrm>
          <a:prstGeom prst="roundRect">
            <a:avLst>
              <a:gd name="adj" fmla="val 6000"/>
            </a:avLst>
          </a:prstGeom>
          <a:solidFill>
            <a:srgbClr val="4A4675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3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۱ تا ۱۰ آبان</a:t>
            </a:r>
          </a:p>
        </p:txBody>
      </p:sp>
      <p:sp>
        <p:nvSpPr>
          <p:cNvPr id="253" name="Card 253"/>
          <p:cNvSpPr/>
          <p:nvPr/>
        </p:nvSpPr>
        <p:spPr>
          <a:xfrm>
            <a:off x="2390255" y="1300000"/>
            <a:ext cx="1716440" cy="411480"/>
          </a:xfrm>
          <a:prstGeom prst="roundRect">
            <a:avLst>
              <a:gd name="adj" fmla="val 6000"/>
            </a:avLst>
          </a:prstGeom>
          <a:solidFill>
            <a:srgbClr val="4A4675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3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۱۱ تا ۲۰ آبان</a:t>
            </a:r>
          </a:p>
        </p:txBody>
      </p:sp>
      <p:sp>
        <p:nvSpPr>
          <p:cNvPr id="254" name="Card 254"/>
          <p:cNvSpPr/>
          <p:nvPr/>
        </p:nvSpPr>
        <p:spPr>
          <a:xfrm>
            <a:off x="628095" y="1300000"/>
            <a:ext cx="1716440" cy="411480"/>
          </a:xfrm>
          <a:prstGeom prst="roundRect">
            <a:avLst>
              <a:gd name="adj" fmla="val 6000"/>
            </a:avLst>
          </a:prstGeom>
          <a:solidFill>
            <a:srgbClr val="4A4675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3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۲۱ تا ۳۰ آبان</a:t>
            </a:r>
          </a:p>
        </p:txBody>
      </p:sp>
      <p:sp>
        <p:nvSpPr>
          <p:cNvPr id="255" name="Card 255"/>
          <p:cNvSpPr/>
          <p:nvPr/>
        </p:nvSpPr>
        <p:spPr>
          <a:xfrm>
            <a:off x="7745316" y="1825780"/>
            <a:ext cx="3840480" cy="484632"/>
          </a:xfrm>
          <a:prstGeom prst="roundRect">
            <a:avLst>
              <a:gd name="adj" fmla="val 6000"/>
            </a:avLst>
          </a:prstGeom>
          <a:solidFill>
            <a:srgbClr val="2B2850"/>
          </a:solidFill>
          <a:ln>
            <a:noFill/>
          </a:ln>
        </p:spPr>
        <p:txBody>
          <a:bodyPr wrap="square" lIns="137160" tIns="0" rIns="137160" bIns="0" anchor="ctr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  <a:buNone/>
            </a:pPr>
            <a:r>
              <a:rPr lang="fa-IR" sz="13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معرفی افراد از منابع انسانی و بریف یاسر</a:t>
            </a:r>
          </a:p>
        </p:txBody>
      </p:sp>
      <p:sp>
        <p:nvSpPr>
          <p:cNvPr id="256" name="Cell 256"/>
          <p:cNvSpPr/>
          <p:nvPr/>
        </p:nvSpPr>
        <p:spPr>
          <a:xfrm>
            <a:off x="5914575" y="1825780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57" name="Cell 257"/>
          <p:cNvSpPr/>
          <p:nvPr/>
        </p:nvSpPr>
        <p:spPr>
          <a:xfrm>
            <a:off x="4152415" y="1825780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58" name="Cell 258"/>
          <p:cNvSpPr/>
          <p:nvPr/>
        </p:nvSpPr>
        <p:spPr>
          <a:xfrm>
            <a:off x="2390255" y="1825780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59" name="Cell 259"/>
          <p:cNvSpPr/>
          <p:nvPr/>
        </p:nvSpPr>
        <p:spPr>
          <a:xfrm>
            <a:off x="628095" y="1825780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60" name="Bar 260"/>
          <p:cNvSpPr/>
          <p:nvPr/>
        </p:nvSpPr>
        <p:spPr>
          <a:xfrm>
            <a:off x="5960295" y="1949224"/>
            <a:ext cx="1625000" cy="237744"/>
          </a:xfrm>
          <a:prstGeom prst="roundRect">
            <a:avLst>
              <a:gd name="adj" fmla="val 50000"/>
            </a:avLst>
          </a:prstGeom>
          <a:solidFill>
            <a:srgbClr val="D6001C"/>
          </a:solidFill>
          <a:ln>
            <a:noFill/>
          </a:ln>
        </p:spPr>
      </p:sp>
      <p:sp>
        <p:nvSpPr>
          <p:cNvPr id="261" name="Card 261"/>
          <p:cNvSpPr/>
          <p:nvPr/>
        </p:nvSpPr>
        <p:spPr>
          <a:xfrm>
            <a:off x="7745316" y="2356132"/>
            <a:ext cx="3840480" cy="484632"/>
          </a:xfrm>
          <a:prstGeom prst="roundRect">
            <a:avLst>
              <a:gd name="adj" fmla="val 6000"/>
            </a:avLst>
          </a:prstGeom>
          <a:solidFill>
            <a:srgbClr val="2B2850"/>
          </a:solidFill>
          <a:ln>
            <a:noFill/>
          </a:ln>
        </p:spPr>
        <p:txBody>
          <a:bodyPr wrap="square" lIns="137160" tIns="0" rIns="137160" bIns="0" anchor="ctr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  <a:buNone/>
            </a:pPr>
            <a:r>
              <a:rPr lang="fa-IR" sz="13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ضبط و انتشار دوره مفاهیم پایه در LMS</a:t>
            </a:r>
          </a:p>
        </p:txBody>
      </p:sp>
      <p:sp>
        <p:nvSpPr>
          <p:cNvPr id="262" name="Cell 262"/>
          <p:cNvSpPr/>
          <p:nvPr/>
        </p:nvSpPr>
        <p:spPr>
          <a:xfrm>
            <a:off x="5914575" y="2356132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63" name="Cell 263"/>
          <p:cNvSpPr/>
          <p:nvPr/>
        </p:nvSpPr>
        <p:spPr>
          <a:xfrm>
            <a:off x="4152415" y="2356132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64" name="Cell 264"/>
          <p:cNvSpPr/>
          <p:nvPr/>
        </p:nvSpPr>
        <p:spPr>
          <a:xfrm>
            <a:off x="2390255" y="2356132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65" name="Cell 265"/>
          <p:cNvSpPr/>
          <p:nvPr/>
        </p:nvSpPr>
        <p:spPr>
          <a:xfrm>
            <a:off x="628095" y="2356132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66" name="Bar 266"/>
          <p:cNvSpPr/>
          <p:nvPr/>
        </p:nvSpPr>
        <p:spPr>
          <a:xfrm>
            <a:off x="4198135" y="2479576"/>
            <a:ext cx="3387160" cy="237744"/>
          </a:xfrm>
          <a:prstGeom prst="roundRect">
            <a:avLst>
              <a:gd name="adj" fmla="val 50000"/>
            </a:avLst>
          </a:prstGeom>
          <a:solidFill>
            <a:srgbClr val="D6001C"/>
          </a:solidFill>
          <a:ln>
            <a:noFill/>
          </a:ln>
        </p:spPr>
      </p:sp>
      <p:sp>
        <p:nvSpPr>
          <p:cNvPr id="267" name="Card 267"/>
          <p:cNvSpPr/>
          <p:nvPr/>
        </p:nvSpPr>
        <p:spPr>
          <a:xfrm>
            <a:off x="7745316" y="2886484"/>
            <a:ext cx="3840480" cy="484632"/>
          </a:xfrm>
          <a:prstGeom prst="roundRect">
            <a:avLst>
              <a:gd name="adj" fmla="val 6000"/>
            </a:avLst>
          </a:prstGeom>
          <a:solidFill>
            <a:srgbClr val="2B2850"/>
          </a:solidFill>
          <a:ln>
            <a:noFill/>
          </a:ln>
        </p:spPr>
        <p:txBody>
          <a:bodyPr wrap="square" lIns="137160" tIns="0" rIns="137160" bIns="0" anchor="ctr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  <a:buNone/>
            </a:pPr>
            <a:r>
              <a:rPr lang="fa-IR" sz="13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طراحی و بازبینی دوره تحلیل داده</a:t>
            </a:r>
          </a:p>
        </p:txBody>
      </p:sp>
      <p:sp>
        <p:nvSpPr>
          <p:cNvPr id="268" name="Cell 268"/>
          <p:cNvSpPr/>
          <p:nvPr/>
        </p:nvSpPr>
        <p:spPr>
          <a:xfrm>
            <a:off x="5914575" y="2886484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69" name="Cell 269"/>
          <p:cNvSpPr/>
          <p:nvPr/>
        </p:nvSpPr>
        <p:spPr>
          <a:xfrm>
            <a:off x="4152415" y="2886484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70" name="Cell 270"/>
          <p:cNvSpPr/>
          <p:nvPr/>
        </p:nvSpPr>
        <p:spPr>
          <a:xfrm>
            <a:off x="2390255" y="2886484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71" name="Cell 271"/>
          <p:cNvSpPr/>
          <p:nvPr/>
        </p:nvSpPr>
        <p:spPr>
          <a:xfrm>
            <a:off x="628095" y="2886484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72" name="Bar 272"/>
          <p:cNvSpPr/>
          <p:nvPr/>
        </p:nvSpPr>
        <p:spPr>
          <a:xfrm>
            <a:off x="2435975" y="3009928"/>
            <a:ext cx="5149320" cy="237744"/>
          </a:xfrm>
          <a:prstGeom prst="roundRect">
            <a:avLst>
              <a:gd name="adj" fmla="val 50000"/>
            </a:avLst>
          </a:prstGeom>
          <a:solidFill>
            <a:srgbClr val="D6001C"/>
          </a:solidFill>
          <a:ln>
            <a:noFill/>
          </a:ln>
        </p:spPr>
      </p:sp>
      <p:sp>
        <p:nvSpPr>
          <p:cNvPr id="273" name="Card 273"/>
          <p:cNvSpPr/>
          <p:nvPr/>
        </p:nvSpPr>
        <p:spPr>
          <a:xfrm>
            <a:off x="7745316" y="3416836"/>
            <a:ext cx="3840480" cy="484632"/>
          </a:xfrm>
          <a:prstGeom prst="roundRect">
            <a:avLst>
              <a:gd name="adj" fmla="val 6000"/>
            </a:avLst>
          </a:prstGeom>
          <a:solidFill>
            <a:srgbClr val="2B2850"/>
          </a:solidFill>
          <a:ln>
            <a:noFill/>
          </a:ln>
        </p:spPr>
        <p:txBody>
          <a:bodyPr wrap="square" lIns="137160" tIns="0" rIns="137160" bIns="0" anchor="ctr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  <a:buNone/>
            </a:pPr>
            <a:r>
              <a:rPr lang="fa-IR" sz="13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انتخاب سفیران</a:t>
            </a:r>
          </a:p>
        </p:txBody>
      </p:sp>
      <p:sp>
        <p:nvSpPr>
          <p:cNvPr id="274" name="Cell 274"/>
          <p:cNvSpPr/>
          <p:nvPr/>
        </p:nvSpPr>
        <p:spPr>
          <a:xfrm>
            <a:off x="5914575" y="3416836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75" name="Cell 275"/>
          <p:cNvSpPr/>
          <p:nvPr/>
        </p:nvSpPr>
        <p:spPr>
          <a:xfrm>
            <a:off x="4152415" y="3416836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76" name="Cell 276"/>
          <p:cNvSpPr/>
          <p:nvPr/>
        </p:nvSpPr>
        <p:spPr>
          <a:xfrm>
            <a:off x="2390255" y="3416836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77" name="Cell 277"/>
          <p:cNvSpPr/>
          <p:nvPr/>
        </p:nvSpPr>
        <p:spPr>
          <a:xfrm>
            <a:off x="628095" y="3416836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78" name="Bar 278"/>
          <p:cNvSpPr/>
          <p:nvPr/>
        </p:nvSpPr>
        <p:spPr>
          <a:xfrm>
            <a:off x="4198135" y="3540280"/>
            <a:ext cx="3387160" cy="237744"/>
          </a:xfrm>
          <a:prstGeom prst="roundRect">
            <a:avLst>
              <a:gd name="adj" fmla="val 50000"/>
            </a:avLst>
          </a:prstGeom>
          <a:solidFill>
            <a:srgbClr val="D6001C"/>
          </a:solidFill>
          <a:ln>
            <a:noFill/>
          </a:ln>
        </p:spPr>
      </p:sp>
      <p:sp>
        <p:nvSpPr>
          <p:cNvPr id="279" name="Card 279"/>
          <p:cNvSpPr/>
          <p:nvPr/>
        </p:nvSpPr>
        <p:spPr>
          <a:xfrm>
            <a:off x="7745316" y="3947188"/>
            <a:ext cx="3840480" cy="484632"/>
          </a:xfrm>
          <a:prstGeom prst="roundRect">
            <a:avLst>
              <a:gd name="adj" fmla="val 6000"/>
            </a:avLst>
          </a:prstGeom>
          <a:solidFill>
            <a:srgbClr val="2B2850"/>
          </a:solidFill>
          <a:ln>
            <a:noFill/>
          </a:ln>
        </p:spPr>
        <p:txBody>
          <a:bodyPr wrap="square" lIns="137160" tIns="0" rIns="137160" bIns="0" anchor="ctr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  <a:buNone/>
            </a:pPr>
            <a:r>
              <a:rPr lang="fa-IR" sz="13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کارگاه‌های تخصصی سفیران</a:t>
            </a:r>
          </a:p>
        </p:txBody>
      </p:sp>
      <p:sp>
        <p:nvSpPr>
          <p:cNvPr id="280" name="Cell 280"/>
          <p:cNvSpPr/>
          <p:nvPr/>
        </p:nvSpPr>
        <p:spPr>
          <a:xfrm>
            <a:off x="5914575" y="3947188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81" name="Cell 281"/>
          <p:cNvSpPr/>
          <p:nvPr/>
        </p:nvSpPr>
        <p:spPr>
          <a:xfrm>
            <a:off x="4152415" y="3947188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82" name="Cell 282"/>
          <p:cNvSpPr/>
          <p:nvPr/>
        </p:nvSpPr>
        <p:spPr>
          <a:xfrm>
            <a:off x="2390255" y="3947188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83" name="Cell 283"/>
          <p:cNvSpPr/>
          <p:nvPr/>
        </p:nvSpPr>
        <p:spPr>
          <a:xfrm>
            <a:off x="628095" y="3947188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84" name="Bar 284"/>
          <p:cNvSpPr/>
          <p:nvPr/>
        </p:nvSpPr>
        <p:spPr>
          <a:xfrm>
            <a:off x="673815" y="4070632"/>
            <a:ext cx="5149320" cy="237744"/>
          </a:xfrm>
          <a:prstGeom prst="roundRect">
            <a:avLst>
              <a:gd name="adj" fmla="val 50000"/>
            </a:avLst>
          </a:prstGeom>
          <a:solidFill>
            <a:srgbClr val="D6001C"/>
          </a:solidFill>
          <a:ln>
            <a:noFill/>
          </a:ln>
        </p:spPr>
      </p:sp>
      <p:sp>
        <p:nvSpPr>
          <p:cNvPr id="285" name="Card 285"/>
          <p:cNvSpPr/>
          <p:nvPr/>
        </p:nvSpPr>
        <p:spPr>
          <a:xfrm>
            <a:off x="7745316" y="4477540"/>
            <a:ext cx="3840480" cy="484632"/>
          </a:xfrm>
          <a:prstGeom prst="roundRect">
            <a:avLst>
              <a:gd name="adj" fmla="val 6000"/>
            </a:avLst>
          </a:prstGeom>
          <a:solidFill>
            <a:srgbClr val="2B2850"/>
          </a:solidFill>
          <a:ln>
            <a:noFill/>
          </a:ln>
        </p:spPr>
        <p:txBody>
          <a:bodyPr wrap="square" lIns="137160" tIns="0" rIns="137160" bIns="0" anchor="ctr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  <a:buNone/>
            </a:pPr>
            <a:r>
              <a:rPr lang="fa-IR" sz="13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برگزاری دوره هوشیار</a:t>
            </a:r>
          </a:p>
        </p:txBody>
      </p:sp>
      <p:sp>
        <p:nvSpPr>
          <p:cNvPr id="286" name="Cell 286"/>
          <p:cNvSpPr/>
          <p:nvPr/>
        </p:nvSpPr>
        <p:spPr>
          <a:xfrm>
            <a:off x="5914575" y="4477540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87" name="Cell 287"/>
          <p:cNvSpPr/>
          <p:nvPr/>
        </p:nvSpPr>
        <p:spPr>
          <a:xfrm>
            <a:off x="4152415" y="4477540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88" name="Cell 288"/>
          <p:cNvSpPr/>
          <p:nvPr/>
        </p:nvSpPr>
        <p:spPr>
          <a:xfrm>
            <a:off x="2390255" y="4477540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89" name="Cell 289"/>
          <p:cNvSpPr/>
          <p:nvPr/>
        </p:nvSpPr>
        <p:spPr>
          <a:xfrm>
            <a:off x="628095" y="4477540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90" name="Bar 290"/>
          <p:cNvSpPr/>
          <p:nvPr/>
        </p:nvSpPr>
        <p:spPr>
          <a:xfrm>
            <a:off x="2435975" y="4600984"/>
            <a:ext cx="1625000" cy="237744"/>
          </a:xfrm>
          <a:prstGeom prst="roundRect">
            <a:avLst>
              <a:gd name="adj" fmla="val 50000"/>
            </a:avLst>
          </a:prstGeom>
          <a:solidFill>
            <a:srgbClr val="D6001C"/>
          </a:solidFill>
          <a:ln>
            <a:noFill/>
          </a:ln>
        </p:spPr>
      </p:sp>
      <p:sp>
        <p:nvSpPr>
          <p:cNvPr id="291" name="Card 291"/>
          <p:cNvSpPr/>
          <p:nvPr/>
        </p:nvSpPr>
        <p:spPr>
          <a:xfrm>
            <a:off x="7745316" y="5007892"/>
            <a:ext cx="3840480" cy="484632"/>
          </a:xfrm>
          <a:prstGeom prst="roundRect">
            <a:avLst>
              <a:gd name="adj" fmla="val 6000"/>
            </a:avLst>
          </a:prstGeom>
          <a:solidFill>
            <a:srgbClr val="2B2850"/>
          </a:solidFill>
          <a:ln>
            <a:noFill/>
          </a:ln>
        </p:spPr>
        <p:txBody>
          <a:bodyPr wrap="square" lIns="137160" tIns="0" rIns="137160" bIns="0" anchor="ctr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  <a:buNone/>
            </a:pPr>
            <a:r>
              <a:rPr lang="fa-IR" sz="13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برگزاری دوره تحلیل داده و تصمیم‌گیری</a:t>
            </a:r>
          </a:p>
        </p:txBody>
      </p:sp>
      <p:sp>
        <p:nvSpPr>
          <p:cNvPr id="292" name="Cell 292"/>
          <p:cNvSpPr/>
          <p:nvPr/>
        </p:nvSpPr>
        <p:spPr>
          <a:xfrm>
            <a:off x="5914575" y="5007892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93" name="Cell 293"/>
          <p:cNvSpPr/>
          <p:nvPr/>
        </p:nvSpPr>
        <p:spPr>
          <a:xfrm>
            <a:off x="4152415" y="5007892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94" name="Cell 294"/>
          <p:cNvSpPr/>
          <p:nvPr/>
        </p:nvSpPr>
        <p:spPr>
          <a:xfrm>
            <a:off x="2390255" y="5007892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95" name="Cell 295"/>
          <p:cNvSpPr/>
          <p:nvPr/>
        </p:nvSpPr>
        <p:spPr>
          <a:xfrm>
            <a:off x="628095" y="5007892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96" name="Bar 296"/>
          <p:cNvSpPr/>
          <p:nvPr/>
        </p:nvSpPr>
        <p:spPr>
          <a:xfrm>
            <a:off x="673815" y="5131336"/>
            <a:ext cx="1625000" cy="237744"/>
          </a:xfrm>
          <a:prstGeom prst="roundRect">
            <a:avLst>
              <a:gd name="adj" fmla="val 50000"/>
            </a:avLst>
          </a:prstGeom>
          <a:solidFill>
            <a:srgbClr val="D6001C"/>
          </a:solidFill>
          <a:ln>
            <a:noFill/>
          </a:ln>
        </p:spPr>
      </p:sp>
      <p:sp>
        <p:nvSpPr>
          <p:cNvPr id="297" name="Card 297"/>
          <p:cNvSpPr/>
          <p:nvPr/>
        </p:nvSpPr>
        <p:spPr>
          <a:xfrm>
            <a:off x="7745316" y="5538244"/>
            <a:ext cx="3840480" cy="484632"/>
          </a:xfrm>
          <a:prstGeom prst="roundRect">
            <a:avLst>
              <a:gd name="adj" fmla="val 6000"/>
            </a:avLst>
          </a:prstGeom>
          <a:solidFill>
            <a:srgbClr val="2B2850"/>
          </a:solidFill>
          <a:ln>
            <a:noFill/>
          </a:ln>
        </p:spPr>
        <p:txBody>
          <a:bodyPr wrap="square" lIns="137160" tIns="0" rIns="137160" bIns="0" anchor="ctr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  <a:buNone/>
            </a:pPr>
            <a:r>
              <a:rPr lang="fa-IR" sz="13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تبدیل هوشیار به دوره الکترونیک</a:t>
            </a:r>
          </a:p>
        </p:txBody>
      </p:sp>
      <p:sp>
        <p:nvSpPr>
          <p:cNvPr id="298" name="Cell 298"/>
          <p:cNvSpPr/>
          <p:nvPr/>
        </p:nvSpPr>
        <p:spPr>
          <a:xfrm>
            <a:off x="5914575" y="5538244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299" name="Cell 299"/>
          <p:cNvSpPr/>
          <p:nvPr/>
        </p:nvSpPr>
        <p:spPr>
          <a:xfrm>
            <a:off x="4152415" y="5538244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300" name="Cell 300"/>
          <p:cNvSpPr/>
          <p:nvPr/>
        </p:nvSpPr>
        <p:spPr>
          <a:xfrm>
            <a:off x="2390255" y="5538244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301" name="Cell 301"/>
          <p:cNvSpPr/>
          <p:nvPr/>
        </p:nvSpPr>
        <p:spPr>
          <a:xfrm>
            <a:off x="628095" y="5538244"/>
            <a:ext cx="1716440" cy="484632"/>
          </a:xfrm>
          <a:prstGeom prst="rect">
            <a:avLst/>
          </a:prstGeom>
          <a:solidFill>
            <a:srgbClr val="26234A"/>
          </a:solidFill>
          <a:ln>
            <a:noFill/>
          </a:ln>
        </p:spPr>
      </p:sp>
      <p:sp>
        <p:nvSpPr>
          <p:cNvPr id="302" name="Bar 302"/>
          <p:cNvSpPr/>
          <p:nvPr/>
        </p:nvSpPr>
        <p:spPr>
          <a:xfrm>
            <a:off x="673815" y="5661688"/>
            <a:ext cx="1625000" cy="237744"/>
          </a:xfrm>
          <a:prstGeom prst="roundRect">
            <a:avLst>
              <a:gd name="adj" fmla="val 50000"/>
            </a:avLst>
          </a:prstGeom>
          <a:solidFill>
            <a:srgbClr val="D6001C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46003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اقدام‌ها و مسئولان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64FF18-49C0-9BEE-1787-CD41B607DED6}"/>
              </a:ext>
            </a:extLst>
          </p:cNvPr>
          <p:cNvSpPr txBox="1"/>
          <p:nvPr/>
        </p:nvSpPr>
        <p:spPr>
          <a:xfrm>
            <a:off x="605235" y="6237288"/>
            <a:ext cx="34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303" name="Card 303"/>
          <p:cNvSpPr/>
          <p:nvPr/>
        </p:nvSpPr>
        <p:spPr>
          <a:xfrm>
            <a:off x="3348435" y="1300000"/>
            <a:ext cx="8237361" cy="530352"/>
          </a:xfrm>
          <a:prstGeom prst="roundRect">
            <a:avLst>
              <a:gd name="adj" fmla="val 6000"/>
            </a:avLst>
          </a:prstGeom>
          <a:solidFill>
            <a:srgbClr val="2B2850"/>
          </a:solidFill>
          <a:ln>
            <a:noFill/>
          </a:ln>
        </p:spPr>
        <p:txBody>
          <a:bodyPr wrap="square" lIns="228600" tIns="0" rIns="777240" bIns="0" anchor="ctr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  <a:buNone/>
            </a:pPr>
            <a:r>
              <a:rPr lang="fa-IR" sz="15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پیگیری تولید دوره الکترونیک مفاهیم پایه</a:t>
            </a:r>
          </a:p>
        </p:txBody>
      </p:sp>
      <p:sp>
        <p:nvSpPr>
          <p:cNvPr id="304" name="Oval 304"/>
          <p:cNvSpPr/>
          <p:nvPr/>
        </p:nvSpPr>
        <p:spPr>
          <a:xfrm>
            <a:off x="11037156" y="1382296"/>
            <a:ext cx="365760" cy="365760"/>
          </a:xfrm>
          <a:prstGeom prst="ellipse">
            <a:avLst/>
          </a:prstGeom>
          <a:solidFill>
            <a:srgbClr val="D6001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2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۱</a:t>
            </a:r>
          </a:p>
        </p:txBody>
      </p:sp>
      <p:sp>
        <p:nvSpPr>
          <p:cNvPr id="305" name="Pill 305"/>
          <p:cNvSpPr/>
          <p:nvPr/>
        </p:nvSpPr>
        <p:spPr>
          <a:xfrm>
            <a:off x="605235" y="1300000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4A4675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4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امیرحسین امداد</a:t>
            </a:r>
          </a:p>
        </p:txBody>
      </p:sp>
      <p:sp>
        <p:nvSpPr>
          <p:cNvPr id="306" name="Card 306"/>
          <p:cNvSpPr/>
          <p:nvPr/>
        </p:nvSpPr>
        <p:spPr>
          <a:xfrm>
            <a:off x="3348435" y="1921792"/>
            <a:ext cx="8237361" cy="530352"/>
          </a:xfrm>
          <a:prstGeom prst="roundRect">
            <a:avLst>
              <a:gd name="adj" fmla="val 6000"/>
            </a:avLst>
          </a:prstGeom>
          <a:solidFill>
            <a:srgbClr val="2B2850"/>
          </a:solidFill>
          <a:ln>
            <a:noFill/>
          </a:ln>
        </p:spPr>
        <p:txBody>
          <a:bodyPr wrap="square" lIns="228600" tIns="0" rIns="777240" bIns="0" anchor="ctr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  <a:buNone/>
            </a:pPr>
            <a:r>
              <a:rPr lang="fa-IR" sz="15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ضبط مقدمه دوره</a:t>
            </a:r>
          </a:p>
        </p:txBody>
      </p:sp>
      <p:sp>
        <p:nvSpPr>
          <p:cNvPr id="307" name="Oval 307"/>
          <p:cNvSpPr/>
          <p:nvPr/>
        </p:nvSpPr>
        <p:spPr>
          <a:xfrm>
            <a:off x="11037156" y="2004088"/>
            <a:ext cx="365760" cy="365760"/>
          </a:xfrm>
          <a:prstGeom prst="ellipse">
            <a:avLst/>
          </a:prstGeom>
          <a:solidFill>
            <a:srgbClr val="D6001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2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۲</a:t>
            </a:r>
          </a:p>
        </p:txBody>
      </p:sp>
      <p:sp>
        <p:nvSpPr>
          <p:cNvPr id="308" name="Pill 308"/>
          <p:cNvSpPr/>
          <p:nvPr/>
        </p:nvSpPr>
        <p:spPr>
          <a:xfrm>
            <a:off x="605235" y="1921792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4A4675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4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فرید فولادی</a:t>
            </a:r>
          </a:p>
        </p:txBody>
      </p:sp>
      <p:sp>
        <p:nvSpPr>
          <p:cNvPr id="309" name="Card 309"/>
          <p:cNvSpPr/>
          <p:nvPr/>
        </p:nvSpPr>
        <p:spPr>
          <a:xfrm>
            <a:off x="3348435" y="2543584"/>
            <a:ext cx="8237361" cy="530352"/>
          </a:xfrm>
          <a:prstGeom prst="roundRect">
            <a:avLst>
              <a:gd name="adj" fmla="val 6000"/>
            </a:avLst>
          </a:prstGeom>
          <a:solidFill>
            <a:srgbClr val="2B2850"/>
          </a:solidFill>
          <a:ln>
            <a:noFill/>
          </a:ln>
        </p:spPr>
        <p:txBody>
          <a:bodyPr wrap="square" lIns="228600" tIns="0" rIns="777240" bIns="0" anchor="ctr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  <a:buNone/>
            </a:pPr>
            <a:r>
              <a:rPr lang="fa-IR" sz="15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ایمیل به منابع انسانی برای معرفی افراد</a:t>
            </a:r>
          </a:p>
        </p:txBody>
      </p:sp>
      <p:sp>
        <p:nvSpPr>
          <p:cNvPr id="310" name="Oval 310"/>
          <p:cNvSpPr/>
          <p:nvPr/>
        </p:nvSpPr>
        <p:spPr>
          <a:xfrm>
            <a:off x="11037156" y="2625880"/>
            <a:ext cx="365760" cy="365760"/>
          </a:xfrm>
          <a:prstGeom prst="ellipse">
            <a:avLst/>
          </a:prstGeom>
          <a:solidFill>
            <a:srgbClr val="D6001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2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۳</a:t>
            </a:r>
          </a:p>
        </p:txBody>
      </p:sp>
      <p:sp>
        <p:nvSpPr>
          <p:cNvPr id="311" name="Pill 311"/>
          <p:cNvSpPr/>
          <p:nvPr/>
        </p:nvSpPr>
        <p:spPr>
          <a:xfrm>
            <a:off x="605235" y="2543584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4A4675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4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سعیده</a:t>
            </a:r>
          </a:p>
        </p:txBody>
      </p:sp>
      <p:sp>
        <p:nvSpPr>
          <p:cNvPr id="312" name="Card 312"/>
          <p:cNvSpPr/>
          <p:nvPr/>
        </p:nvSpPr>
        <p:spPr>
          <a:xfrm>
            <a:off x="3348435" y="3165376"/>
            <a:ext cx="8237361" cy="530352"/>
          </a:xfrm>
          <a:prstGeom prst="roundRect">
            <a:avLst>
              <a:gd name="adj" fmla="val 6000"/>
            </a:avLst>
          </a:prstGeom>
          <a:solidFill>
            <a:srgbClr val="2B2850"/>
          </a:solidFill>
          <a:ln>
            <a:noFill/>
          </a:ln>
        </p:spPr>
        <p:txBody>
          <a:bodyPr wrap="square" lIns="228600" tIns="0" rIns="777240" bIns="0" anchor="ctr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  <a:buNone/>
            </a:pPr>
            <a:r>
              <a:rPr lang="fa-IR" sz="15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بریف یاسر برای طراحی دوره تحلیل داده</a:t>
            </a:r>
          </a:p>
        </p:txBody>
      </p:sp>
      <p:sp>
        <p:nvSpPr>
          <p:cNvPr id="313" name="Oval 313"/>
          <p:cNvSpPr/>
          <p:nvPr/>
        </p:nvSpPr>
        <p:spPr>
          <a:xfrm>
            <a:off x="11037156" y="3247672"/>
            <a:ext cx="365760" cy="365760"/>
          </a:xfrm>
          <a:prstGeom prst="ellipse">
            <a:avLst/>
          </a:prstGeom>
          <a:solidFill>
            <a:srgbClr val="D6001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2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۴</a:t>
            </a:r>
          </a:p>
        </p:txBody>
      </p:sp>
      <p:sp>
        <p:nvSpPr>
          <p:cNvPr id="314" name="Pill 314"/>
          <p:cNvSpPr/>
          <p:nvPr/>
        </p:nvSpPr>
        <p:spPr>
          <a:xfrm>
            <a:off x="605235" y="3165376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4A4675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4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مؤسسه</a:t>
            </a:r>
          </a:p>
        </p:txBody>
      </p:sp>
      <p:sp>
        <p:nvSpPr>
          <p:cNvPr id="315" name="Card 315"/>
          <p:cNvSpPr/>
          <p:nvPr/>
        </p:nvSpPr>
        <p:spPr>
          <a:xfrm>
            <a:off x="3348435" y="3787168"/>
            <a:ext cx="8237361" cy="530352"/>
          </a:xfrm>
          <a:prstGeom prst="roundRect">
            <a:avLst>
              <a:gd name="adj" fmla="val 6000"/>
            </a:avLst>
          </a:prstGeom>
          <a:solidFill>
            <a:srgbClr val="2B2850"/>
          </a:solidFill>
          <a:ln>
            <a:noFill/>
          </a:ln>
        </p:spPr>
        <p:txBody>
          <a:bodyPr wrap="square" lIns="228600" tIns="0" rIns="777240" bIns="0" anchor="ctr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  <a:buNone/>
            </a:pPr>
            <a:r>
              <a:rPr lang="fa-IR" sz="15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بررسی طرح دوره تحلیل داده</a:t>
            </a:r>
          </a:p>
        </p:txBody>
      </p:sp>
      <p:sp>
        <p:nvSpPr>
          <p:cNvPr id="316" name="Oval 316"/>
          <p:cNvSpPr/>
          <p:nvPr/>
        </p:nvSpPr>
        <p:spPr>
          <a:xfrm>
            <a:off x="11037156" y="3869464"/>
            <a:ext cx="365760" cy="365760"/>
          </a:xfrm>
          <a:prstGeom prst="ellipse">
            <a:avLst/>
          </a:prstGeom>
          <a:solidFill>
            <a:srgbClr val="D6001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2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۵</a:t>
            </a:r>
          </a:p>
        </p:txBody>
      </p:sp>
      <p:sp>
        <p:nvSpPr>
          <p:cNvPr id="317" name="Pill 317"/>
          <p:cNvSpPr/>
          <p:nvPr/>
        </p:nvSpPr>
        <p:spPr>
          <a:xfrm>
            <a:off x="605235" y="3787168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4A4675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4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حسین زواره</a:t>
            </a:r>
          </a:p>
        </p:txBody>
      </p:sp>
      <p:sp>
        <p:nvSpPr>
          <p:cNvPr id="318" name="Card 318"/>
          <p:cNvSpPr/>
          <p:nvPr/>
        </p:nvSpPr>
        <p:spPr>
          <a:xfrm>
            <a:off x="3348435" y="4408960"/>
            <a:ext cx="8237361" cy="530352"/>
          </a:xfrm>
          <a:prstGeom prst="roundRect">
            <a:avLst>
              <a:gd name="adj" fmla="val 6000"/>
            </a:avLst>
          </a:prstGeom>
          <a:solidFill>
            <a:srgbClr val="2B2850"/>
          </a:solidFill>
          <a:ln>
            <a:noFill/>
          </a:ln>
        </p:spPr>
        <p:txBody>
          <a:bodyPr wrap="square" lIns="228600" tIns="0" rIns="777240" bIns="0" anchor="ctr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  <a:buNone/>
            </a:pPr>
            <a:r>
              <a:rPr lang="fa-IR" sz="15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بریف نهایی و تأیید محتوای دوره تحلیل داده</a:t>
            </a:r>
          </a:p>
        </p:txBody>
      </p:sp>
      <p:sp>
        <p:nvSpPr>
          <p:cNvPr id="319" name="Oval 319"/>
          <p:cNvSpPr/>
          <p:nvPr/>
        </p:nvSpPr>
        <p:spPr>
          <a:xfrm>
            <a:off x="11037156" y="4491256"/>
            <a:ext cx="365760" cy="365760"/>
          </a:xfrm>
          <a:prstGeom prst="ellipse">
            <a:avLst/>
          </a:prstGeom>
          <a:solidFill>
            <a:srgbClr val="D6001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2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۶</a:t>
            </a:r>
          </a:p>
        </p:txBody>
      </p:sp>
      <p:sp>
        <p:nvSpPr>
          <p:cNvPr id="320" name="Pill 320"/>
          <p:cNvSpPr/>
          <p:nvPr/>
        </p:nvSpPr>
        <p:spPr>
          <a:xfrm>
            <a:off x="605235" y="4408960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4A4675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4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فرید فولادی</a:t>
            </a:r>
          </a:p>
        </p:txBody>
      </p:sp>
      <p:sp>
        <p:nvSpPr>
          <p:cNvPr id="321" name="Card 321"/>
          <p:cNvSpPr/>
          <p:nvPr/>
        </p:nvSpPr>
        <p:spPr>
          <a:xfrm>
            <a:off x="3348435" y="5030752"/>
            <a:ext cx="8237361" cy="530352"/>
          </a:xfrm>
          <a:prstGeom prst="roundRect">
            <a:avLst>
              <a:gd name="adj" fmla="val 6000"/>
            </a:avLst>
          </a:prstGeom>
          <a:solidFill>
            <a:srgbClr val="2B2850"/>
          </a:solidFill>
          <a:ln>
            <a:noFill/>
          </a:ln>
        </p:spPr>
        <p:txBody>
          <a:bodyPr wrap="square" lIns="228600" tIns="0" rIns="777240" bIns="0" anchor="ctr" rtlCol="0">
            <a:no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  <a:buNone/>
            </a:pPr>
            <a:r>
              <a:rPr lang="fa-IR" sz="1500" b="0" dirty="0">
                <a:solidFill>
                  <a:srgbClr val="FFFFFF"/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تعیین مسیر آموزشی سفیران</a:t>
            </a:r>
          </a:p>
        </p:txBody>
      </p:sp>
      <p:sp>
        <p:nvSpPr>
          <p:cNvPr id="322" name="Oval 322"/>
          <p:cNvSpPr/>
          <p:nvPr/>
        </p:nvSpPr>
        <p:spPr>
          <a:xfrm>
            <a:off x="11037156" y="5113048"/>
            <a:ext cx="365760" cy="365760"/>
          </a:xfrm>
          <a:prstGeom prst="ellipse">
            <a:avLst/>
          </a:prstGeom>
          <a:solidFill>
            <a:srgbClr val="D6001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2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۷</a:t>
            </a:r>
          </a:p>
        </p:txBody>
      </p:sp>
      <p:sp>
        <p:nvSpPr>
          <p:cNvPr id="323" name="Pill 323"/>
          <p:cNvSpPr/>
          <p:nvPr/>
        </p:nvSpPr>
        <p:spPr>
          <a:xfrm>
            <a:off x="605235" y="5030752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4A4675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  <a:buNone/>
            </a:pPr>
            <a:r>
              <a:rPr lang="fa-IR" sz="1400" b="1" dirty="0">
                <a:solidFill>
                  <a:srgbClr val="FFFFFF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حسین زواره</a:t>
            </a:r>
          </a:p>
        </p:txBody>
      </p:sp>
    </p:spTree>
    <p:extLst>
      <p:ext uri="{BB962C8B-B14F-4D97-AF65-F5344CB8AC3E}">
        <p14:creationId xmlns:p14="http://schemas.microsoft.com/office/powerpoint/2010/main" val="446003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31CB4F-6DE8-507A-5AB0-F9B0AE6514F8}"/>
              </a:ext>
            </a:extLst>
          </p:cNvPr>
          <p:cNvSpPr txBox="1"/>
          <p:nvPr/>
        </p:nvSpPr>
        <p:spPr>
          <a:xfrm>
            <a:off x="2712415" y="3988386"/>
            <a:ext cx="6456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spc="600" dirty="0" err="1">
                <a:solidFill>
                  <a:schemeClr val="bg1"/>
                </a:solidFill>
                <a:latin typeface="SG Kara Light" pitchFamily="2" charset="-78"/>
                <a:ea typeface="SG Kara Light" pitchFamily="2" charset="-78"/>
                <a:cs typeface="SG Kara Light" pitchFamily="2" charset="-78"/>
              </a:rPr>
              <a:t>education.systemgroup.net</a:t>
            </a:r>
            <a:endParaRPr lang="en-US" sz="2000" spc="600" dirty="0">
              <a:solidFill>
                <a:schemeClr val="bg1"/>
              </a:solidFill>
              <a:latin typeface="SG Kara Light" pitchFamily="2" charset="-78"/>
              <a:ea typeface="SG Kara Light" pitchFamily="2" charset="-78"/>
              <a:cs typeface="SG Kara Light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4679DD-E81E-93B4-D9A1-E6992AD31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411" y="2261849"/>
            <a:ext cx="4704696" cy="116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58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959</TotalTime>
  <Words>842</Words>
  <Application>Microsoft Macintosh PowerPoint</Application>
  <PresentationFormat>Widescreen</PresentationFormat>
  <Paragraphs>146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Calibri</vt:lpstr>
      <vt:lpstr>Calibri Light</vt:lpstr>
      <vt:lpstr>SG Kara</vt:lpstr>
      <vt:lpstr>SG Kara FaNum</vt:lpstr>
      <vt:lpstr>SG Kara FaNum Light</vt:lpstr>
      <vt:lpstr>SG Kara FaNum SemiBold</vt:lpstr>
      <vt:lpstr>SG Kara Light</vt:lpstr>
      <vt:lpstr>SG Kara Light</vt:lpstr>
      <vt:lpstr>SG Kara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Negar</cp:lastModifiedBy>
  <cp:revision>19</cp:revision>
  <dcterms:created xsi:type="dcterms:W3CDTF">2023-11-29T05:27:09Z</dcterms:created>
  <dcterms:modified xsi:type="dcterms:W3CDTF">2025-01-18T13:22:37Z</dcterms:modified>
</cp:coreProperties>
</file>